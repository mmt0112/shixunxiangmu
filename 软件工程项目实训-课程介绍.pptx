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sldIdLst>
    <p:sldId id="256" r:id="rId4"/>
    <p:sldId id="264" r:id="rId5"/>
    <p:sldId id="279" r:id="rId6"/>
    <p:sldId id="280" r:id="rId7"/>
    <p:sldId id="261" r:id="rId8"/>
    <p:sldId id="267" r:id="rId9"/>
    <p:sldId id="281" r:id="rId10"/>
    <p:sldId id="285" r:id="rId11"/>
    <p:sldId id="286" r:id="rId12"/>
    <p:sldId id="269" r:id="rId13"/>
    <p:sldId id="271" r:id="rId14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3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80" d="100"/>
          <a:sy n="80" d="100"/>
        </p:scale>
        <p:origin x="-1272" y="-96"/>
      </p:cViewPr>
      <p:guideLst>
        <p:guide orient="horz" pos="2233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11569A-68CF-4175-BACF-2146909669B8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Calibri" panose="020F07020304040A0204" pitchFamily="34" charset="0"/>
              </a:rPr>
            </a:fld>
            <a:endParaRPr lang="zh-CN" altLang="en-US" sz="1200" dirty="0">
              <a:latin typeface="Calibri" panose="020F07020304040A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日期占位符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9850" y="2341563"/>
            <a:ext cx="90138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263" y="2468563"/>
            <a:ext cx="9015413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263" y="4649788"/>
            <a:ext cx="90074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日期占位符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9850" y="2341563"/>
            <a:ext cx="90138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263" y="2468563"/>
            <a:ext cx="9015413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263" y="4649788"/>
            <a:ext cx="90074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p>
            <a:pPr algn="ctr">
              <a:buNone/>
            </a:pPr>
            <a:fld id="{9A0DB2DC-4C9A-4742-B13C-FB6460FD3503}" type="slidenum">
              <a:rPr lang="zh-CN" altLang="en-US" dirty="0">
                <a:latin typeface="Franklin Gothic Book" panose="020B0503020102020204"/>
                <a:ea typeface="幼圆"/>
              </a:rPr>
            </a:fld>
            <a:endParaRPr lang="zh-CN" altLang="en-US" dirty="0">
              <a:latin typeface="Franklin Gothic Book" panose="020B0503020102020204"/>
              <a:ea typeface="幼圆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Franklin Gothic Book" panose="020B0503020102020204"/>
                <a:ea typeface="幼圆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Franklin Gothic Book" panose="020B0503020102020204"/>
                <a:ea typeface="幼圆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 vert="horz" wrap="square" bIns="91440" anchor="ctr" anchorCtr="0"/>
          <a:p>
            <a:pPr>
              <a:buClrTx/>
              <a:buSzTx/>
              <a:buFontTx/>
              <a:buNone/>
            </a:pPr>
            <a:r>
              <a:rPr kumimoji="0" lang="zh-CN" alt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软件工程项目实训</a:t>
            </a:r>
            <a:endParaRPr kumimoji="0" lang="zh-CN" alt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7" name="矩形 3"/>
          <p:cNvSpPr/>
          <p:nvPr/>
        </p:nvSpPr>
        <p:spPr>
          <a:xfrm>
            <a:off x="4140200" y="5229225"/>
            <a:ext cx="457200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None/>
            </a:pPr>
            <a:r>
              <a:rPr lang="zh-CN" altLang="en-US" sz="2800" dirty="0">
                <a:latin typeface="Perpetua" panose="02020802060401090303"/>
                <a:ea typeface="宋体" panose="02010600030101010101" pitchFamily="2" charset="-122"/>
                <a:sym typeface="+mn-ea"/>
              </a:rPr>
              <a:t>任课教师：覃开洲</a:t>
            </a:r>
            <a:endParaRPr lang="en-US" altLang="zh-CN" sz="2800" dirty="0">
              <a:latin typeface="Perpetua" panose="02020802060401090303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dirty="0">
                <a:latin typeface="Perpetua" panose="02020802060401090303"/>
                <a:ea typeface="宋体" panose="02010600030101010101" pitchFamily="2" charset="-122"/>
                <a:sym typeface="+mn-ea"/>
              </a:rPr>
              <a:t>Mail: qkz@gzus.edu.cn</a:t>
            </a:r>
            <a:endParaRPr lang="en-US" altLang="zh-CN" sz="2800" dirty="0">
              <a:latin typeface="Perpetua" panose="02020802060401090303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课程代码：</a:t>
            </a:r>
            <a:r>
              <a:rPr kumimoji="0" lang="en-US" altLang="x-none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SW3102</a:t>
            </a:r>
            <a:endParaRPr kumimoji="0" lang="en-US" altLang="x-none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课程学时：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3</a:t>
            </a:r>
            <a:r>
              <a:rPr kumimoji="0" lang="en-US" altLang="x-none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6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学时 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学    分：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学分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+mn-ea"/>
              </a:rPr>
              <a:t>课程性质：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考查课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sym typeface="+mn-ea"/>
              </a:rPr>
              <a:t>先 修 课：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cs typeface="+mn-cs"/>
              </a:rPr>
              <a:t>软件工程(SS3004)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任务分析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sz="quarter" idx="1"/>
          </p:nvPr>
        </p:nvSpPr>
        <p:spPr>
          <a:xfrm>
            <a:off x="914400" y="1785938"/>
            <a:ext cx="7772400" cy="4595812"/>
          </a:xfrm>
        </p:spPr>
        <p:txBody>
          <a:bodyPr wrap="square" anchor="t" anchorCtr="0"/>
          <a:p>
            <a:pPr marL="0" indent="0" algn="just">
              <a:buClr>
                <a:schemeClr val="accent1"/>
              </a:buClr>
              <a:buSzPct val="85000"/>
              <a:buFont typeface="Wingdings 2" panose="05020102010507070707"/>
              <a:buNone/>
            </a:pPr>
            <a:r>
              <a:rPr sz="3200" dirty="0"/>
              <a:t> </a:t>
            </a:r>
            <a:r>
              <a:rPr lang="en-US" sz="3200" dirty="0"/>
              <a:t>   </a:t>
            </a:r>
            <a:r>
              <a:rPr sz="3200" dirty="0"/>
              <a:t>以</a:t>
            </a:r>
            <a:r>
              <a:rPr lang="zh-CN" sz="3200" dirty="0"/>
              <a:t>项目驱动展开</a:t>
            </a:r>
            <a:r>
              <a:rPr sz="3200" dirty="0"/>
              <a:t>教学过程，</a:t>
            </a:r>
            <a:r>
              <a:rPr sz="3200" dirty="0">
                <a:sym typeface="+mn-ea"/>
              </a:rPr>
              <a:t>综合运用软件开发语言、数据库、</a:t>
            </a:r>
            <a:r>
              <a:rPr lang="zh-CN" sz="3200" dirty="0">
                <a:sym typeface="+mn-ea"/>
              </a:rPr>
              <a:t>企业级开发</a:t>
            </a:r>
            <a:r>
              <a:rPr sz="3200" dirty="0">
                <a:sym typeface="+mn-ea"/>
              </a:rPr>
              <a:t>、软件工程等</a:t>
            </a:r>
            <a:r>
              <a:rPr lang="zh-CN" altLang="en-US" sz="3200" dirty="0">
                <a:sym typeface="+mn-ea"/>
              </a:rPr>
              <a:t>课程所学知识，按照软件开发流程，通过团队合作，设计并实现一个业务逻辑合理</a:t>
            </a:r>
            <a:r>
              <a:rPr sz="3200" dirty="0">
                <a:sym typeface="+mn-ea"/>
              </a:rPr>
              <a:t>、</a:t>
            </a:r>
            <a:r>
              <a:rPr lang="zh-CN" sz="3200" dirty="0">
                <a:sym typeface="+mn-ea"/>
              </a:rPr>
              <a:t>系统</a:t>
            </a:r>
            <a:r>
              <a:rPr lang="zh-CN" altLang="en-US" sz="3200" dirty="0">
                <a:sym typeface="+mn-ea"/>
              </a:rPr>
              <a:t>功能完整的系统或</a:t>
            </a:r>
            <a:r>
              <a:rPr lang="en-US" altLang="zh-CN" sz="3200" dirty="0">
                <a:sym typeface="+mn-ea"/>
              </a:rPr>
              <a:t>Agent </a:t>
            </a:r>
            <a:r>
              <a:rPr lang="zh-CN" altLang="en-US" sz="3200" dirty="0">
                <a:sym typeface="+mn-ea"/>
              </a:rPr>
              <a:t>系统。</a:t>
            </a:r>
            <a:endParaRPr lang="zh-CN" altLang="en-US" sz="3200" dirty="0">
              <a:sym typeface="+mn-ea"/>
            </a:endParaRPr>
          </a:p>
          <a:p>
            <a:pPr marL="0" indent="0" algn="just">
              <a:buClr>
                <a:schemeClr val="accent1"/>
              </a:buClr>
              <a:buSzPct val="85000"/>
              <a:buFont typeface="Wingdings 2" panose="05020102010507070707"/>
              <a:buNone/>
            </a:pP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目标分析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sz="quarter" idx="1"/>
          </p:nvPr>
        </p:nvSpPr>
        <p:spPr>
          <a:xfrm>
            <a:off x="914400" y="1785938"/>
            <a:ext cx="7772400" cy="4595812"/>
          </a:xfrm>
        </p:spPr>
        <p:txBody>
          <a:bodyPr wrap="square" anchor="t" anchorCtr="0"/>
          <a:p>
            <a:pPr algn="just">
              <a:buClr>
                <a:schemeClr val="accent1"/>
              </a:buClr>
              <a:buSzPct val="85000"/>
              <a:buFont typeface="Wingdings 2" panose="05020102010507070707"/>
            </a:pPr>
            <a:r>
              <a:rPr sz="3200" dirty="0"/>
              <a:t>深刻理解软件</a:t>
            </a:r>
            <a:r>
              <a:rPr lang="zh-CN" sz="3200" dirty="0"/>
              <a:t>项目开发流程</a:t>
            </a:r>
            <a:endParaRPr sz="3200" dirty="0"/>
          </a:p>
          <a:p>
            <a:pPr algn="just">
              <a:buClr>
                <a:schemeClr val="accent1"/>
              </a:buClr>
              <a:buSzPct val="85000"/>
              <a:buFont typeface="Wingdings 2" panose="05020102010507070707"/>
            </a:pPr>
            <a:r>
              <a:rPr sz="3200" dirty="0"/>
              <a:t>综合运用软件开发</a:t>
            </a:r>
            <a:r>
              <a:rPr lang="zh-CN" sz="3200" dirty="0"/>
              <a:t>能力</a:t>
            </a:r>
            <a:endParaRPr sz="3200" dirty="0"/>
          </a:p>
          <a:p>
            <a:pPr algn="just"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sz="3200" dirty="0"/>
              <a:t>提升</a:t>
            </a:r>
            <a:r>
              <a:rPr sz="3200" dirty="0"/>
              <a:t>团队协作</a:t>
            </a:r>
            <a:r>
              <a:rPr lang="zh-CN" sz="3200" dirty="0"/>
              <a:t>能力</a:t>
            </a:r>
            <a:endParaRPr lang="zh-CN" sz="3200" dirty="0"/>
          </a:p>
          <a:p>
            <a:pPr algn="just"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sz="3200" dirty="0"/>
              <a:t>项目管理</a:t>
            </a:r>
            <a:r>
              <a:rPr lang="zh-CN" sz="3200" dirty="0"/>
              <a:t>能力</a:t>
            </a:r>
            <a:endParaRPr lang="zh-CN" sz="3200" dirty="0"/>
          </a:p>
          <a:p>
            <a:pPr algn="just"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sz="3200" dirty="0"/>
              <a:t>代码管理能</a:t>
            </a:r>
            <a:r>
              <a:rPr lang="zh-CN" sz="3200" dirty="0"/>
              <a:t>力</a:t>
            </a:r>
            <a:endParaRPr lang="zh-CN" sz="3200" dirty="0"/>
          </a:p>
          <a:p>
            <a:pPr algn="just"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sz="3200" dirty="0"/>
              <a:t>规范</a:t>
            </a:r>
            <a:r>
              <a:rPr sz="3200" dirty="0"/>
              <a:t>文档编写</a:t>
            </a:r>
            <a:endParaRPr lang="zh-CN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内容占位符 1"/>
          <p:cNvSpPr/>
          <p:nvPr>
            <p:ph sz="quarter" idx="1"/>
          </p:nvPr>
        </p:nvSpPr>
        <p:spPr>
          <a:xfrm>
            <a:off x="899795" y="1628775"/>
            <a:ext cx="7772400" cy="4572000"/>
          </a:xfrm>
        </p:spPr>
        <p:txBody>
          <a:bodyPr/>
          <a:p>
            <a:pPr algn="just"/>
            <a:r>
              <a:rPr sz="3200" dirty="0"/>
              <a:t>考勤比例:10</a:t>
            </a:r>
            <a:endParaRPr sz="3200" dirty="0"/>
          </a:p>
          <a:p>
            <a:pPr algn="just"/>
            <a:r>
              <a:rPr sz="3200" dirty="0"/>
              <a:t>平时成绩比例:20</a:t>
            </a:r>
            <a:endParaRPr sz="3200" dirty="0"/>
          </a:p>
          <a:p>
            <a:pPr algn="just"/>
            <a:r>
              <a:rPr sz="3200" dirty="0"/>
              <a:t>考</a:t>
            </a:r>
            <a:r>
              <a:rPr lang="zh-CN" sz="3200" dirty="0"/>
              <a:t>查</a:t>
            </a:r>
            <a:r>
              <a:rPr sz="3200" dirty="0"/>
              <a:t>成绩比例:70</a:t>
            </a:r>
            <a:endParaRPr sz="3200" dirty="0"/>
          </a:p>
          <a:p>
            <a:pPr algn="just"/>
            <a:endParaRPr lang="zh-CN" alt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考核标准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考勤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3" name="内容占位符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0925"/>
          </a:xfrm>
        </p:spPr>
        <p:txBody>
          <a:bodyPr wrap="square" anchor="t" anchorCtr="0"/>
          <a:p>
            <a:pPr marL="274320" lvl="1" indent="-274320" algn="just">
              <a:lnSpc>
                <a:spcPct val="100000"/>
              </a:lnSpc>
              <a:spcBef>
                <a:spcPts val="580"/>
              </a:spcBef>
              <a:buClr>
                <a:schemeClr val="accent1"/>
              </a:buClr>
              <a:buSzPct val="85000"/>
              <a:buFont typeface="Wingdings 2" panose="05020102010507070707"/>
            </a:pPr>
            <a:r>
              <a:rPr sz="3200" dirty="0"/>
              <a:t>课堂点名</a:t>
            </a:r>
            <a:endParaRPr sz="3200" dirty="0"/>
          </a:p>
          <a:p>
            <a:pPr marL="274320" lvl="1" indent="-274320" algn="just">
              <a:lnSpc>
                <a:spcPct val="100000"/>
              </a:lnSpc>
              <a:spcBef>
                <a:spcPts val="580"/>
              </a:spcBef>
              <a:buClr>
                <a:schemeClr val="accent1"/>
              </a:buClr>
              <a:buSzPct val="85000"/>
              <a:buFont typeface="Wingdings 2" panose="05020102010507070707"/>
            </a:pPr>
            <a:r>
              <a:rPr sz="3200" dirty="0">
                <a:sym typeface="+mn-ea"/>
              </a:rPr>
              <a:t>广州软件学院学生请假管理规定</a:t>
            </a:r>
            <a:endParaRPr sz="3200" dirty="0"/>
          </a:p>
          <a:p>
            <a:pPr marL="274320" lvl="1" indent="-274320" algn="just">
              <a:lnSpc>
                <a:spcPct val="100000"/>
              </a:lnSpc>
              <a:spcBef>
                <a:spcPts val="580"/>
              </a:spcBef>
              <a:buClr>
                <a:schemeClr val="accent1"/>
              </a:buClr>
              <a:buSzPct val="85000"/>
              <a:buFont typeface="Wingdings 2" panose="05020102010507070707"/>
            </a:pPr>
            <a:r>
              <a:rPr sz="3200" dirty="0"/>
              <a:t>错误处理:当堂提出，过后不改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考核标准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平时成绩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243" name="内容占位符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0925"/>
          </a:xfrm>
        </p:spPr>
        <p:txBody>
          <a:bodyPr wrap="square" anchor="t" anchorCtr="0"/>
          <a:p>
            <a:pPr marL="285750" indent="-285750"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</a:pPr>
            <a:r>
              <a:rPr lang="zh-CN" altLang="en-US" sz="3200" dirty="0">
                <a:latin typeface="宋体" panose="02010600030101010101" pitchFamily="2" charset="-122"/>
                <a:sym typeface="+mn-ea"/>
              </a:rPr>
              <a:t>分阶段进行考核，平时成绩是各个阶段成绩的总和</a:t>
            </a:r>
            <a:endParaRPr lang="en-US" altLang="zh-CN" sz="3200" dirty="0">
              <a:latin typeface="宋体" panose="02010600030101010101" pitchFamily="2" charset="-122"/>
              <a:sym typeface="+mn-ea"/>
            </a:endParaRPr>
          </a:p>
          <a:p>
            <a:pPr marL="285750" indent="-285750"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</a:pPr>
            <a:r>
              <a:rPr lang="zh-CN" altLang="en-US" sz="3200" dirty="0">
                <a:latin typeface="宋体" panose="02010600030101010101" pitchFamily="2" charset="-122"/>
                <a:sym typeface="+mn-ea"/>
              </a:rPr>
              <a:t>每个阶段结束，小组按要求交一份对应的交付物</a:t>
            </a:r>
            <a:r>
              <a:rPr lang="en-US" altLang="zh-CN" sz="3200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3200" dirty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3200" dirty="0">
                <a:latin typeface="宋体" panose="02010600030101010101" pitchFamily="2" charset="-122"/>
                <a:sym typeface="+mn-ea"/>
              </a:rPr>
              <a:t>github</a:t>
            </a:r>
            <a:r>
              <a:rPr lang="zh-CN" altLang="en-US" sz="3200" dirty="0">
                <a:latin typeface="宋体" panose="02010600030101010101" pitchFamily="2" charset="-122"/>
                <a:sym typeface="+mn-ea"/>
              </a:rPr>
              <a:t>提交为准</a:t>
            </a:r>
            <a:endParaRPr lang="en-US" altLang="zh-CN" sz="3200" dirty="0">
              <a:latin typeface="宋体" panose="02010600030101010101" pitchFamily="2" charset="-122"/>
              <a:sym typeface="+mn-ea"/>
            </a:endParaRPr>
          </a:p>
          <a:p>
            <a:pPr marL="285750" indent="-285750"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</a:pPr>
            <a:r>
              <a:rPr lang="zh-CN" altLang="en-US" sz="3200" dirty="0">
                <a:latin typeface="宋体" panose="02010600030101010101" pitchFamily="2" charset="-122"/>
                <a:sym typeface="+mn-ea"/>
              </a:rPr>
              <a:t>不能抄袭，发现抄袭者全部课程成绩评为不及格，无论抄袭者或被抄袭者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/>
          <p:nvPr>
            <p:ph sz="quarter" idx="1"/>
          </p:nvPr>
        </p:nvSpPr>
        <p:spPr/>
        <p:txBody>
          <a:bodyPr/>
          <a:p>
            <a:r>
              <a:rPr lang="zh-CN" altLang="en-US"/>
              <a:t>工程规划</a:t>
            </a:r>
            <a:r>
              <a:rPr lang="en-US" altLang="zh-CN"/>
              <a:t> (20%)</a:t>
            </a:r>
            <a:r>
              <a:rPr lang="zh-CN" altLang="en-US"/>
              <a:t>：考察目标设置、进度计划的合理性与规范性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技术文档</a:t>
            </a:r>
            <a:r>
              <a:rPr lang="en-US" altLang="zh-CN"/>
              <a:t> (30%)</a:t>
            </a:r>
            <a:r>
              <a:rPr lang="zh-CN" altLang="en-US"/>
              <a:t>：评估需求规格、架构设计及测试报告与国家标准的契合度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软件产出</a:t>
            </a:r>
            <a:r>
              <a:rPr lang="en-US" altLang="zh-CN"/>
              <a:t> (30%)</a:t>
            </a:r>
            <a:r>
              <a:rPr lang="zh-CN" altLang="en-US"/>
              <a:t>：考察核心业务逻辑的正确性、代码质量及系统稳定性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项目陈述</a:t>
            </a:r>
            <a:r>
              <a:rPr lang="en-US" altLang="zh-CN"/>
              <a:t> (20%)</a:t>
            </a:r>
            <a:r>
              <a:rPr lang="zh-CN" altLang="en-US"/>
              <a:t>：通过技术汇报与现场演示效果，评估学生对业务场景的分析深度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考核标准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考查成绩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项目实训进度安排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sz="quarter" idx="1"/>
          </p:nvPr>
        </p:nvSpPr>
        <p:spPr>
          <a:xfrm>
            <a:off x="900113" y="1341438"/>
            <a:ext cx="7772400" cy="5221287"/>
          </a:xfrm>
        </p:spPr>
        <p:txBody>
          <a:bodyPr wrap="square" anchor="t" anchorCtr="0"/>
          <a:p>
            <a:pPr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第一阶段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</a:rPr>
              <a:t>--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立项与组队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  <a:p>
            <a:pPr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二阶段--需求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工程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  <a:p>
            <a:pPr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三阶段--系统设计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  <a:p>
            <a:pPr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四阶段--迭代开发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一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  <a:p>
            <a:pPr>
              <a:buClr>
                <a:schemeClr val="accent1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五阶段--地带开发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二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  <a:p>
            <a:pPr lvl="0">
              <a:buClr>
                <a:schemeClr val="accent2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六阶段--质量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保障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  <a:p>
            <a:pPr lvl="0">
              <a:buClr>
                <a:schemeClr val="accent2"/>
              </a:buClr>
              <a:buSzPct val="85000"/>
              <a:buFont typeface="Wingdings 2" panose="05020102010507070707"/>
            </a:pP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第七阶段</a:t>
            </a:r>
            <a:r>
              <a:rPr lang="en-US" altLang="zh-CN" sz="2800" noProof="0" dirty="0" smtClean="0">
                <a:ln>
                  <a:noFill/>
                </a:ln>
                <a:effectLst/>
                <a:uLnTx/>
                <a:uFillTx/>
              </a:rPr>
              <a:t>--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交付与结</a:t>
            </a:r>
            <a:r>
              <a:rPr lang="zh-CN" altLang="en-US" sz="2800" noProof="0" dirty="0" smtClean="0">
                <a:ln>
                  <a:noFill/>
                </a:ln>
                <a:effectLst/>
                <a:uLnTx/>
                <a:uFillTx/>
              </a:rPr>
              <a:t>项</a:t>
            </a:r>
            <a:endParaRPr lang="zh-CN" altLang="en-US" sz="2800" noProof="0" dirty="0" smtClean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bIns="91440" anchor="b" anchorCtr="0"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教学设计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295275" y="1429385"/>
          <a:ext cx="8547100" cy="5002530"/>
        </p:xfrm>
        <a:graphic>
          <a:graphicData uri="http://schemas.openxmlformats.org/drawingml/2006/table">
            <a:tbl>
              <a:tblPr/>
              <a:tblGrid>
                <a:gridCol w="1146175"/>
                <a:gridCol w="1612265"/>
                <a:gridCol w="3271520"/>
                <a:gridCol w="807720"/>
                <a:gridCol w="1709420"/>
              </a:tblGrid>
              <a:tr h="406400">
                <a:tc>
                  <a:txBody>
                    <a:bodyPr/>
                    <a:p>
                      <a:pPr marL="5905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周次</a:t>
                      </a:r>
                      <a:endParaRPr lang="zh-CN" sz="1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marL="5905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</a:t>
                      </a:r>
                      <a:endParaRPr lang="zh-CN" sz="1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marL="5905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核心任务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(Action Items)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marL="5905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学时分配</a:t>
                      </a:r>
                      <a:endParaRPr lang="zh-CN" sz="1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marL="5905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交付物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(Deliverables)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95655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1-2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立项与组队</a:t>
                      </a:r>
                      <a:endParaRPr 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团队组建（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4-5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人）、角色分配、选题（遵循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MVP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原则）、仓库初始化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《项目启动书》、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README.md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Git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仓库地址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3-4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需求工程</a:t>
                      </a:r>
                      <a:endParaRPr 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需求调研、业务逻辑提取、编写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PRD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、核心页面原型设计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《需求规格说明书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(SRS)》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、低保真原型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655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5-6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系统设计</a:t>
                      </a:r>
                      <a:endParaRPr 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技术选型、架构模式选择（如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MVC/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微服务）、数据库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E-R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图设计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《概要设计说明书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(HLD)》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、数据库表结构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7-10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迭代开发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lang="en-US" alt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搭建基础框架、实现核心业务逻辑、数据库前后端联调</a:t>
                      </a:r>
                      <a:endParaRPr 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核心功能演示版本、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Commit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提交记录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020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11-14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迭代开发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II</a:t>
                      </a:r>
                      <a:endParaRPr lang="en-US" alt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功能补全、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UI/UX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优化；</a:t>
                      </a: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红线提示：第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 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周后原则上不再增新功能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《详细设计说明书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(DD)》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、可运行软件版本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035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15-16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质量保障</a:t>
                      </a:r>
                      <a:endParaRPr 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单元测试、集成测试、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Bug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修复及回归测试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《测试报告》、</a:t>
                      </a: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Bug </a:t>
                      </a:r>
                      <a:r>
                        <a:rPr lang="zh-CN" altLang="en-US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管理清单</a:t>
                      </a:r>
                      <a:endParaRPr lang="zh-CN" altLang="en-US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17-18</a:t>
                      </a:r>
                      <a:r>
                        <a:rPr lang="zh-CN" altLang="en-US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</a:t>
                      </a:r>
                      <a:endParaRPr lang="zh-CN" altLang="en-US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交付与结项</a:t>
                      </a:r>
                      <a:endParaRPr lang="zh-CN" sz="1000" b="1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项目部署、技术汇报准备、系统演示及最终评审</a:t>
                      </a:r>
                      <a:endParaRPr 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9055" indent="0" algn="l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i="0">
                          <a:solidFill>
                            <a:srgbClr val="30303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最终源码包、用户手册、项目总结报告</a:t>
                      </a:r>
                      <a:endParaRPr lang="zh-CN" sz="1000" i="0">
                        <a:solidFill>
                          <a:srgbClr val="30303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646292" y="1389817"/>
            <a:ext cx="3741377" cy="374137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2947988" y="3354388"/>
            <a:ext cx="304165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3768725" y="2305050"/>
            <a:ext cx="1401763" cy="83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kern="1200" cap="none" spc="0" normalizeH="0" baseline="0" noProof="0" dirty="0">
                <a:solidFill>
                  <a:schemeClr val="accent3"/>
                </a:solidFill>
                <a:latin typeface="+mn-ea"/>
                <a:ea typeface="+mn-ea"/>
                <a:cs typeface="+mn-cs"/>
              </a:rPr>
              <a:t>谢谢</a:t>
            </a:r>
            <a:endParaRPr kumimoji="0" lang="zh-CN" altLang="en-US" sz="4800" b="1" kern="1200" cap="none" spc="0" normalizeH="0" baseline="0" noProof="0" dirty="0">
              <a:solidFill>
                <a:schemeClr val="accent3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9" name="椭圆 8"/>
          <p:cNvSpPr/>
          <p:nvPr/>
        </p:nvSpPr>
        <p:spPr>
          <a:xfrm rot="10498052">
            <a:off x="1584325" y="5199063"/>
            <a:ext cx="563563" cy="563563"/>
          </a:xfrm>
          <a:prstGeom prst="ellipse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 rot="10498052">
            <a:off x="2336800" y="5854700"/>
            <a:ext cx="228600" cy="228600"/>
          </a:xfrm>
          <a:prstGeom prst="ellipse">
            <a:avLst/>
          </a:prstGeom>
          <a:solidFill>
            <a:schemeClr val="accent5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152734" y="4634871"/>
            <a:ext cx="845906" cy="8459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09297" y="4729728"/>
            <a:ext cx="310515" cy="31051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5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862257" y="5560076"/>
            <a:ext cx="310515" cy="31051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" name="同心圆 1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" name="椭圆 19"/>
          <p:cNvSpPr/>
          <p:nvPr/>
        </p:nvSpPr>
        <p:spPr>
          <a:xfrm rot="10498052">
            <a:off x="1849438" y="4491038"/>
            <a:ext cx="228600" cy="228600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87388" y="5748992"/>
            <a:ext cx="441364" cy="44136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" name="同心圆 2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 rot="10498052">
            <a:off x="828675" y="5367338"/>
            <a:ext cx="303213" cy="303213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401516" y="5343182"/>
            <a:ext cx="310515" cy="31051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" name="椭圆 27"/>
          <p:cNvSpPr/>
          <p:nvPr/>
        </p:nvSpPr>
        <p:spPr>
          <a:xfrm rot="10498052">
            <a:off x="3592513" y="5942013"/>
            <a:ext cx="192088" cy="192088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rot="10498052">
            <a:off x="382588" y="6015038"/>
            <a:ext cx="228600" cy="228600"/>
          </a:xfrm>
          <a:prstGeom prst="ellipse">
            <a:avLst/>
          </a:prstGeom>
          <a:solidFill>
            <a:srgbClr val="4F81BD">
              <a:lumMod val="50000"/>
            </a:srgbClr>
          </a:solidFill>
          <a:ln w="25400" cap="flat" cmpd="sng" algn="ctr">
            <a:solidFill>
              <a:srgbClr val="1F497D"/>
            </a:solidFill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rot="10498052">
            <a:off x="6499225" y="5229225"/>
            <a:ext cx="563563" cy="563563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rot="10498052">
            <a:off x="7251700" y="5884863"/>
            <a:ext cx="228600" cy="228600"/>
          </a:xfrm>
          <a:prstGeom prst="ellipse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067634" y="4664905"/>
            <a:ext cx="845906" cy="8459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3" name="同心圆 3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924197" y="4759762"/>
            <a:ext cx="310515" cy="31051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6" name="同心圆 3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777157" y="5590110"/>
            <a:ext cx="310515" cy="31051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9" name="同心圆 3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" name="椭圆 40"/>
          <p:cNvSpPr/>
          <p:nvPr/>
        </p:nvSpPr>
        <p:spPr>
          <a:xfrm rot="10498052">
            <a:off x="6764338" y="4521200"/>
            <a:ext cx="228600" cy="228600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102288" y="5779026"/>
            <a:ext cx="441364" cy="44136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3" name="同心圆 4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5" name="椭圆 44"/>
          <p:cNvSpPr/>
          <p:nvPr/>
        </p:nvSpPr>
        <p:spPr>
          <a:xfrm rot="10498052">
            <a:off x="5743575" y="5397500"/>
            <a:ext cx="303213" cy="303213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316416" y="5373216"/>
            <a:ext cx="310515" cy="31051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7" name="同心圆 4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7020304040A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9" name="椭圆 48"/>
          <p:cNvSpPr/>
          <p:nvPr/>
        </p:nvSpPr>
        <p:spPr>
          <a:xfrm rot="10498052">
            <a:off x="8507413" y="5970588"/>
            <a:ext cx="192088" cy="193675"/>
          </a:xfrm>
          <a:prstGeom prst="ellipse">
            <a:avLst/>
          </a:prstGeom>
          <a:solidFill>
            <a:srgbClr val="4F81BD">
              <a:lumMod val="50000"/>
            </a:srgbClr>
          </a:solidFill>
          <a:ln w="25400" cap="flat" cmpd="sng" algn="ctr">
            <a:solidFill>
              <a:srgbClr val="1F497D"/>
            </a:solidFill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 rot="10498052">
            <a:off x="5297488" y="6043613"/>
            <a:ext cx="228600" cy="228600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7020304040A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9027 -0.68768 L 3.61111E-6 2.94717E-6 " pathEditMode="relative" rAng="0" ptsTypes="AA">
                                      <p:cBhvr>
                                        <p:cTn id="6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51400" y="3438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458 -0.82685 L 3.88889E-6 -1.85185E-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2900" y="41327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267 -0.5607 L -5.55556E-7 2.03892E-7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64200" y="28020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6511 -0.74143 L -3.61111E-6 4.43312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6400" y="3707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2951 -0.81173 L 0 -2.46914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7600" y="40586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3194 -0.36577 L -2.77778E-7 5.68428E-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59700" y="18289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3194 -0.36577 L -2.77778E-7 5.68428E-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59700" y="182890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7135 -0.78931 L 8.33333E-7 -4.71733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458 -0.82685 L 3.88889E-6 -1.85185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2900" y="413270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267 -0.5607 L -5.55556E-7 2.03892E-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64200" y="28020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6511 -0.74143 L -3.61111E-6 4.43312E-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6400" y="37071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2951 -0.81173 L 0 -2.46914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7600" y="40586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3194 -0.36577 L -2.77778E-7 5.68428E-7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59700" y="18289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7136 -0.7892 L 5E-6 2.46914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44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3194 -0.36577 L -2.77778E-7 5.68428E-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59700" y="182890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7135 -0.78931 L 8.33333E-7 -4.71733E-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5712 -0.81186 L -0.01424 -0.0225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7600" y="394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20" grpId="0" animBg="1"/>
      <p:bldP spid="24" grpId="0" animBg="1"/>
      <p:bldP spid="28" grpId="0" animBg="1"/>
      <p:bldP spid="29" grpId="0" animBg="1"/>
      <p:bldP spid="30" grpId="0" animBg="1"/>
      <p:bldP spid="31" grpId="0" animBg="1"/>
      <p:bldP spid="41" grpId="0" animBg="1"/>
      <p:bldP spid="45" grpId="0" animBg="1"/>
      <p:bldP spid="49" grpId="0" animBg="1"/>
      <p:bldP spid="50" grpId="0" animBg="1"/>
    </p:bldLst>
  </p:timing>
</p:sld>
</file>

<file path=ppt/tags/tag1.xml><?xml version="1.0" encoding="utf-8"?>
<p:tagLst xmlns:p="http://schemas.openxmlformats.org/presentationml/2006/main">
  <p:tag name="TABLE_ENDDRAG_ORIGIN_RECT" val="672*393"/>
  <p:tag name="TABLE_ENDDRAG_RECT" val="23*112*672*393"/>
</p:tagLst>
</file>

<file path=ppt/tags/tag2.xml><?xml version="1.0" encoding="utf-8"?>
<p:tagLst xmlns:p="http://schemas.openxmlformats.org/presentationml/2006/main">
  <p:tag name="COMMONDATA" val="eyJoZGlkIjoiYmJlYzJhOThlMTQyZTBkMTQ1OWE1NjlhY2MzMTQwYj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1125</Words>
  <Application>WPS 演示</Application>
  <PresentationFormat>全屏显示(4:3)</PresentationFormat>
  <Paragraphs>147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Franklin Gothic Book</vt:lpstr>
      <vt:lpstr>幼圆</vt:lpstr>
      <vt:lpstr>Thonburi</vt:lpstr>
      <vt:lpstr>Wingdings 2</vt:lpstr>
      <vt:lpstr>Calibri</vt:lpstr>
      <vt:lpstr>Perpetua</vt:lpstr>
      <vt:lpstr>微软雅黑</vt:lpstr>
      <vt:lpstr>华文新魏</vt:lpstr>
      <vt:lpstr>Calibri</vt:lpstr>
      <vt:lpstr>Arial Unicode MS</vt:lpstr>
      <vt:lpstr>Franklin Gothic Book</vt:lpstr>
      <vt:lpstr>Perpetua</vt:lpstr>
      <vt:lpstr>Wingdings 2</vt:lpstr>
      <vt:lpstr>幼圆</vt:lpstr>
      <vt:lpstr>苹方-简</vt:lpstr>
      <vt:lpstr>平衡</vt:lpstr>
      <vt:lpstr>1_平衡</vt:lpstr>
      <vt:lpstr>软件工程项目实训</vt:lpstr>
      <vt:lpstr>课程介绍</vt:lpstr>
      <vt:lpstr>任务分析</vt:lpstr>
      <vt:lpstr>目标分析</vt:lpstr>
      <vt:lpstr>考核标准</vt:lpstr>
      <vt:lpstr>考核标准--考勤</vt:lpstr>
      <vt:lpstr>考核标准--平时成绩</vt:lpstr>
      <vt:lpstr>考核标准--平时成绩</vt:lpstr>
      <vt:lpstr>项目实训进度安排</vt:lpstr>
      <vt:lpstr>教学设计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企业级数据库综合项目实训</dc:title>
  <dc:creator>wg</dc:creator>
  <cp:lastModifiedBy>Milo</cp:lastModifiedBy>
  <cp:revision>132</cp:revision>
  <dcterms:created xsi:type="dcterms:W3CDTF">2026-03-01T03:26:56Z</dcterms:created>
  <dcterms:modified xsi:type="dcterms:W3CDTF">2026-03-01T03:26:56Z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8514EE4C65A08B6D00B2A3699E5FCA9B_43</vt:lpwstr>
  </property>
  <property fmtid="{D5CDD505-2E9C-101B-9397-08002B2CF9AE}" pid="3" name="KSOProductBuildVer">
    <vt:lpwstr>2052-7.3.1.8967</vt:lpwstr>
  </property>
</Properties>
</file>